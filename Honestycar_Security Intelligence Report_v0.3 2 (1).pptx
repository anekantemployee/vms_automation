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60" r:id="rId5"/>
    <p:sldId id="257" r:id="rId6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160" userDrawn="1">
          <p15:clr>
            <a:srgbClr val="A4A3A4"/>
          </p15:clr>
        </p15:guide>
        <p15:guide id="4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0B5"/>
    <a:srgbClr val="2649A7"/>
    <a:srgbClr val="2A4075"/>
    <a:srgbClr val="213F60"/>
    <a:srgbClr val="D6E2EC"/>
    <a:srgbClr val="48E8FF"/>
    <a:srgbClr val="7DA8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60"/>
  </p:normalViewPr>
  <p:slideViewPr>
    <p:cSldViewPr snapToGrid="0" showGuides="1">
      <p:cViewPr>
        <p:scale>
          <a:sx n="90" d="100"/>
          <a:sy n="90" d="100"/>
        </p:scale>
        <p:origin x="1384" y="-1244"/>
      </p:cViewPr>
      <p:guideLst>
        <p:guide pos="2160"/>
        <p:guide orient="horz"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8DC613-E1E0-4293-9709-4D712C0F51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6CAAE-B2FA-4B1A-B063-4AB5DEC866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F3A06-3289-4442-AEF4-0369CCCBE5FD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CB702-95CB-4E27-AAD6-C4F89EBF15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84446-E95C-44E3-9878-9D3E6D40BE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9AD64-9BC6-42E3-BA20-D3F83DAD1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84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52A7E-92D2-4938-88E2-A7908E97997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B55DB-8BE4-476D-A72D-3E639B1B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2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B55DB-8BE4-476D-A72D-3E639B1B32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2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271AFE-2577-4F7A-BB35-3285AC02FD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858000" cy="40742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309525-99D5-477F-B60E-78F2E60A7472}"/>
              </a:ext>
            </a:extLst>
          </p:cNvPr>
          <p:cNvSpPr/>
          <p:nvPr userDrawn="1"/>
        </p:nvSpPr>
        <p:spPr>
          <a:xfrm>
            <a:off x="0" y="0"/>
            <a:ext cx="6857999" cy="9144000"/>
          </a:xfrm>
          <a:prstGeom prst="rect">
            <a:avLst/>
          </a:prstGeom>
          <a:gradFill flip="none" rotWithShape="1">
            <a:gsLst>
              <a:gs pos="57000">
                <a:schemeClr val="bg1">
                  <a:lumMod val="95000"/>
                </a:schemeClr>
              </a:gs>
              <a:gs pos="81000">
                <a:schemeClr val="bg1">
                  <a:alpha val="1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9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5519A-8777-4891-8EA0-F6D4FBB555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43000" y="1142999"/>
            <a:ext cx="9144001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3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81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Single Corner Rounded 37">
            <a:extLst>
              <a:ext uri="{FF2B5EF4-FFF2-40B4-BE49-F238E27FC236}">
                <a16:creationId xmlns:a16="http://schemas.microsoft.com/office/drawing/2014/main" id="{DE3EB07D-A31A-470B-8F0C-A8925FEC54EC}"/>
              </a:ext>
            </a:extLst>
          </p:cNvPr>
          <p:cNvSpPr/>
          <p:nvPr/>
        </p:nvSpPr>
        <p:spPr>
          <a:xfrm>
            <a:off x="235694" y="4370927"/>
            <a:ext cx="2683769" cy="1258279"/>
          </a:xfrm>
          <a:prstGeom prst="round1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A10E89-488A-477E-8369-BABE8B96D53B}"/>
              </a:ext>
            </a:extLst>
          </p:cNvPr>
          <p:cNvSpPr/>
          <p:nvPr/>
        </p:nvSpPr>
        <p:spPr>
          <a:xfrm>
            <a:off x="189168" y="2934688"/>
            <a:ext cx="3126898" cy="14619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 panose="020F0502020204030204" pitchFamily="34" charset="0"/>
                <a:cs typeface="Calibri"/>
              </a:rPr>
              <a:t>Cybersecurity Executive Brief</a:t>
            </a:r>
            <a:b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Honestycar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 panose="020F0502020204030204" pitchFamily="34" charset="0"/>
                <a:cs typeface="Calibri"/>
              </a:rPr>
              <a:t> faces significant cybersecurity risks like </a:t>
            </a: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improper input validation, weak ciphers, and insecure file upload functionality and 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 panose="020F0502020204030204" pitchFamily="34" charset="0"/>
                <a:cs typeface="Calibri"/>
              </a:rPr>
              <a:t>network vulnerabilities</a:t>
            </a: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These weaknesses pose significant risks to data integrity, confidentiality, and  business operations</a:t>
            </a:r>
            <a:r>
              <a:rPr lang="en-GB" dirty="0"/>
              <a:t>.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ea typeface="Calibri" panose="020F0502020204030204" pitchFamily="34" charset="0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41B272-9FBB-45E0-990B-8D762D8B62A6}"/>
              </a:ext>
            </a:extLst>
          </p:cNvPr>
          <p:cNvSpPr/>
          <p:nvPr/>
        </p:nvSpPr>
        <p:spPr>
          <a:xfrm>
            <a:off x="250090" y="4370927"/>
            <a:ext cx="13304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Risk Score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9E1DCCA-B823-45AE-9666-9332C23D31D8}"/>
              </a:ext>
            </a:extLst>
          </p:cNvPr>
          <p:cNvCxnSpPr>
            <a:cxnSpLocks/>
          </p:cNvCxnSpPr>
          <p:nvPr/>
        </p:nvCxnSpPr>
        <p:spPr>
          <a:xfrm>
            <a:off x="1419470" y="4336791"/>
            <a:ext cx="0" cy="112762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CA2A4EC-CF1E-4E30-B72B-8390021AD5B2}"/>
              </a:ext>
            </a:extLst>
          </p:cNvPr>
          <p:cNvSpPr/>
          <p:nvPr/>
        </p:nvSpPr>
        <p:spPr>
          <a:xfrm>
            <a:off x="250090" y="4939311"/>
            <a:ext cx="550151" cy="52322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743705B-D188-43A3-9D86-28FCCDB67599}"/>
              </a:ext>
            </a:extLst>
          </p:cNvPr>
          <p:cNvSpPr/>
          <p:nvPr/>
        </p:nvSpPr>
        <p:spPr>
          <a:xfrm>
            <a:off x="1630448" y="4337732"/>
            <a:ext cx="1330471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 Benchmark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7859092-579C-4055-BD2E-C2D79D47DECA}"/>
              </a:ext>
            </a:extLst>
          </p:cNvPr>
          <p:cNvSpPr/>
          <p:nvPr/>
        </p:nvSpPr>
        <p:spPr>
          <a:xfrm>
            <a:off x="1630448" y="4939311"/>
            <a:ext cx="550151" cy="52322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73" name="Rectangle: Single Corner Rounded 72">
            <a:extLst>
              <a:ext uri="{FF2B5EF4-FFF2-40B4-BE49-F238E27FC236}">
                <a16:creationId xmlns:a16="http://schemas.microsoft.com/office/drawing/2014/main" id="{49B468CB-BFE0-4D0D-BF24-D7B00B368576}"/>
              </a:ext>
            </a:extLst>
          </p:cNvPr>
          <p:cNvSpPr/>
          <p:nvPr/>
        </p:nvSpPr>
        <p:spPr>
          <a:xfrm flipH="1">
            <a:off x="3372529" y="1500555"/>
            <a:ext cx="3485465" cy="1601292"/>
          </a:xfrm>
          <a:prstGeom prst="round1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1A1DA5-1D8E-4670-9CCA-DAC73FE0C92B}"/>
              </a:ext>
            </a:extLst>
          </p:cNvPr>
          <p:cNvSpPr/>
          <p:nvPr/>
        </p:nvSpPr>
        <p:spPr>
          <a:xfrm>
            <a:off x="3372530" y="1550789"/>
            <a:ext cx="3942670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Honestycar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Security Intelligence Report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2C8EE-D26C-4DFA-9F77-8314A6CE2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175" y="265473"/>
            <a:ext cx="1387400" cy="8623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14CF4E-4164-4C0A-9755-D7D459EC9F51}"/>
              </a:ext>
            </a:extLst>
          </p:cNvPr>
          <p:cNvSpPr txBox="1"/>
          <p:nvPr/>
        </p:nvSpPr>
        <p:spPr>
          <a:xfrm>
            <a:off x="4376604" y="5334070"/>
            <a:ext cx="1390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Riskometer</a:t>
            </a:r>
            <a:endParaRPr lang="en-IN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C626F-9E36-43E0-B3D8-39BDFD67AAEF}"/>
              </a:ext>
            </a:extLst>
          </p:cNvPr>
          <p:cNvSpPr/>
          <p:nvPr/>
        </p:nvSpPr>
        <p:spPr>
          <a:xfrm>
            <a:off x="3190583" y="4155450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BFBC2-02D9-4962-B0D2-707A069C9204}"/>
              </a:ext>
            </a:extLst>
          </p:cNvPr>
          <p:cNvSpPr/>
          <p:nvPr/>
        </p:nvSpPr>
        <p:spPr>
          <a:xfrm>
            <a:off x="3190583" y="4155450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913418-E695-4399-801D-5D93BB1DCB99}"/>
              </a:ext>
            </a:extLst>
          </p:cNvPr>
          <p:cNvSpPr/>
          <p:nvPr/>
        </p:nvSpPr>
        <p:spPr>
          <a:xfrm>
            <a:off x="4036470" y="4169768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F7E6DF0-3672-4BD2-BEBE-FC417D66B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832" y="3864084"/>
            <a:ext cx="3082597" cy="154129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7B65104A-0950-4AB8-B816-5E8981172BC9}"/>
              </a:ext>
            </a:extLst>
          </p:cNvPr>
          <p:cNvGrpSpPr/>
          <p:nvPr/>
        </p:nvGrpSpPr>
        <p:grpSpPr>
          <a:xfrm rot="1371511">
            <a:off x="4920929" y="4438788"/>
            <a:ext cx="174014" cy="923632"/>
            <a:chOff x="4759325" y="5181600"/>
            <a:chExt cx="344488" cy="985838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F59CF166-5710-4481-A869-E47B7603C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325" y="5181600"/>
              <a:ext cx="344488" cy="985838"/>
            </a:xfrm>
            <a:custGeom>
              <a:avLst/>
              <a:gdLst>
                <a:gd name="T0" fmla="*/ 784 w 1568"/>
                <a:gd name="T1" fmla="*/ 4493 h 4493"/>
                <a:gd name="T2" fmla="*/ 784 w 1568"/>
                <a:gd name="T3" fmla="*/ 4493 h 4493"/>
                <a:gd name="T4" fmla="*/ 71 w 1568"/>
                <a:gd name="T5" fmla="*/ 3656 h 4493"/>
                <a:gd name="T6" fmla="*/ 637 w 1568"/>
                <a:gd name="T7" fmla="*/ 125 h 4493"/>
                <a:gd name="T8" fmla="*/ 784 w 1568"/>
                <a:gd name="T9" fmla="*/ 0 h 4493"/>
                <a:gd name="T10" fmla="*/ 932 w 1568"/>
                <a:gd name="T11" fmla="*/ 125 h 4493"/>
                <a:gd name="T12" fmla="*/ 1498 w 1568"/>
                <a:gd name="T13" fmla="*/ 3656 h 4493"/>
                <a:gd name="T14" fmla="*/ 784 w 1568"/>
                <a:gd name="T15" fmla="*/ 4493 h 4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68" h="4493">
                  <a:moveTo>
                    <a:pt x="784" y="4493"/>
                  </a:moveTo>
                  <a:cubicBezTo>
                    <a:pt x="784" y="4493"/>
                    <a:pt x="784" y="4493"/>
                    <a:pt x="784" y="4493"/>
                  </a:cubicBezTo>
                  <a:cubicBezTo>
                    <a:pt x="340" y="4493"/>
                    <a:pt x="0" y="4095"/>
                    <a:pt x="71" y="3656"/>
                  </a:cubicBezTo>
                  <a:cubicBezTo>
                    <a:pt x="637" y="125"/>
                    <a:pt x="637" y="125"/>
                    <a:pt x="637" y="125"/>
                  </a:cubicBezTo>
                  <a:cubicBezTo>
                    <a:pt x="649" y="53"/>
                    <a:pt x="711" y="0"/>
                    <a:pt x="784" y="0"/>
                  </a:cubicBezTo>
                  <a:cubicBezTo>
                    <a:pt x="858" y="0"/>
                    <a:pt x="920" y="53"/>
                    <a:pt x="932" y="125"/>
                  </a:cubicBezTo>
                  <a:cubicBezTo>
                    <a:pt x="1498" y="3656"/>
                    <a:pt x="1498" y="3656"/>
                    <a:pt x="1498" y="3656"/>
                  </a:cubicBezTo>
                  <a:cubicBezTo>
                    <a:pt x="1568" y="4095"/>
                    <a:pt x="1229" y="4493"/>
                    <a:pt x="784" y="4493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7" name="Oval 19">
              <a:extLst>
                <a:ext uri="{FF2B5EF4-FFF2-40B4-BE49-F238E27FC236}">
                  <a16:creationId xmlns:a16="http://schemas.microsoft.com/office/drawing/2014/main" id="{6CBEC90D-06F2-405F-A928-744CFFFDC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938" y="5911850"/>
              <a:ext cx="195263" cy="1952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4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96E160E6-FC71-4286-89EC-FD8B6E3D6656}"/>
              </a:ext>
            </a:extLst>
          </p:cNvPr>
          <p:cNvSpPr/>
          <p:nvPr/>
        </p:nvSpPr>
        <p:spPr>
          <a:xfrm rot="17254553">
            <a:off x="3425220" y="4745655"/>
            <a:ext cx="591683" cy="26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100" b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B2C7E7-135F-4EBE-A9EA-56E4AE2760C9}"/>
              </a:ext>
            </a:extLst>
          </p:cNvPr>
          <p:cNvSpPr/>
          <p:nvPr/>
        </p:nvSpPr>
        <p:spPr>
          <a:xfrm rot="19585621">
            <a:off x="3954895" y="4051233"/>
            <a:ext cx="591683" cy="26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100" b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4EAE22-E710-46DB-81C3-B31CEBD69DF7}"/>
              </a:ext>
            </a:extLst>
          </p:cNvPr>
          <p:cNvSpPr/>
          <p:nvPr/>
        </p:nvSpPr>
        <p:spPr>
          <a:xfrm>
            <a:off x="4599474" y="3800677"/>
            <a:ext cx="978551" cy="26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100" b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56E39A-43A9-4A18-AE27-B91BC9D67373}"/>
              </a:ext>
            </a:extLst>
          </p:cNvPr>
          <p:cNvSpPr/>
          <p:nvPr/>
        </p:nvSpPr>
        <p:spPr>
          <a:xfrm rot="2006098">
            <a:off x="5606184" y="4058263"/>
            <a:ext cx="591683" cy="26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100" b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0641F3-2764-4333-B839-B098E5B141DB}"/>
              </a:ext>
            </a:extLst>
          </p:cNvPr>
          <p:cNvSpPr/>
          <p:nvPr/>
        </p:nvSpPr>
        <p:spPr>
          <a:xfrm rot="4515690">
            <a:off x="5835799" y="4778199"/>
            <a:ext cx="1190312" cy="26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100" b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3B6162-28B4-472F-8C3A-13430C5DA058}"/>
              </a:ext>
            </a:extLst>
          </p:cNvPr>
          <p:cNvSpPr/>
          <p:nvPr/>
        </p:nvSpPr>
        <p:spPr>
          <a:xfrm>
            <a:off x="-1" y="6218399"/>
            <a:ext cx="6857999" cy="628447"/>
          </a:xfrm>
          <a:prstGeom prst="rect">
            <a:avLst/>
          </a:prstGeom>
          <a:solidFill>
            <a:srgbClr val="D5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539750"/>
            <a:r>
              <a:rPr lang="en-US" sz="1200" dirty="0">
                <a:solidFill>
                  <a:schemeClr val="tx1"/>
                </a:solidFill>
                <a:latin typeface="Calibri"/>
                <a:cs typeface="Calibri"/>
              </a:rPr>
              <a:t>The "Get Quote" page of </a:t>
            </a:r>
            <a:r>
              <a:rPr lang="en-US" sz="1200" dirty="0" err="1">
                <a:solidFill>
                  <a:schemeClr val="tx1"/>
                </a:solidFill>
                <a:latin typeface="Calibri"/>
                <a:cs typeface="Calibri"/>
              </a:rPr>
              <a:t>Honestycar</a:t>
            </a:r>
            <a:r>
              <a:rPr lang="en-US" sz="1200" dirty="0">
                <a:solidFill>
                  <a:schemeClr val="tx1"/>
                </a:solidFill>
                <a:latin typeface="Calibri"/>
                <a:cs typeface="Calibri"/>
              </a:rPr>
              <a:t> website lacks input validation, risking script-based attacks that could expose data, damage brand trust, and trigger compliance issues.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5B454CA-9533-4AB7-8494-F5643D0D580C}"/>
              </a:ext>
            </a:extLst>
          </p:cNvPr>
          <p:cNvSpPr/>
          <p:nvPr/>
        </p:nvSpPr>
        <p:spPr>
          <a:xfrm flipH="1">
            <a:off x="-3371" y="7745891"/>
            <a:ext cx="6858000" cy="663917"/>
          </a:xfrm>
          <a:prstGeom prst="rect">
            <a:avLst/>
          </a:prstGeom>
          <a:solidFill>
            <a:srgbClr val="D5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web application accepts SVG and GIF files with malicious content, risking code execution in users browsers, potentially leading to session hijacking and user data compromise.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5E843-3FEE-FBA3-3013-AB7A83C058A5}"/>
              </a:ext>
            </a:extLst>
          </p:cNvPr>
          <p:cNvSpPr txBox="1"/>
          <p:nvPr/>
        </p:nvSpPr>
        <p:spPr>
          <a:xfrm>
            <a:off x="0" y="5838091"/>
            <a:ext cx="6858000" cy="338553"/>
          </a:xfrm>
          <a:prstGeom prst="rect">
            <a:avLst/>
          </a:prstGeom>
          <a:solidFill>
            <a:srgbClr val="0780B5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Calibri"/>
                <a:cs typeface="Calibri"/>
              </a:rPr>
              <a:t>Cyberattack Entry Points  Identified </a:t>
            </a:r>
            <a:endParaRPr lang="en-US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F95CD-8CD4-765B-59C7-30563A68D67B}"/>
              </a:ext>
            </a:extLst>
          </p:cNvPr>
          <p:cNvSpPr/>
          <p:nvPr/>
        </p:nvSpPr>
        <p:spPr>
          <a:xfrm>
            <a:off x="-3371" y="6932516"/>
            <a:ext cx="6858000" cy="652739"/>
          </a:xfrm>
          <a:prstGeom prst="rect">
            <a:avLst/>
          </a:prstGeom>
          <a:solidFill>
            <a:srgbClr val="D5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/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Honestycar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website supports outdated TLS 1.0/1.1 protocols, exposing it to known attacks and putting encrypted data, compliance, and customer trust at risk.</a:t>
            </a:r>
            <a:endParaRPr lang="en-IN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53F266-4C34-4DA7-B42C-E0545B91218B}"/>
              </a:ext>
            </a:extLst>
          </p:cNvPr>
          <p:cNvSpPr/>
          <p:nvPr/>
        </p:nvSpPr>
        <p:spPr>
          <a:xfrm>
            <a:off x="3372530" y="2534649"/>
            <a:ext cx="3429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external perspective, emulating the tactics and techniques employed by real-world attackers using passive reconnaissance to identify potential vulnerabilities that cybercriminals could exploit</a:t>
            </a:r>
            <a:r>
              <a:rPr lang="en-US" sz="9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9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26" name="Picture 2" descr="Breach ">
            <a:extLst>
              <a:ext uri="{FF2B5EF4-FFF2-40B4-BE49-F238E27FC236}">
                <a16:creationId xmlns:a16="http://schemas.microsoft.com/office/drawing/2014/main" id="{3251B15A-C31C-4D64-9BC9-18F4C5453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1" y="6374168"/>
            <a:ext cx="334392" cy="334392"/>
          </a:xfrm>
          <a:prstGeom prst="rect">
            <a:avLst/>
          </a:prstGeom>
          <a:solidFill>
            <a:srgbClr val="D5EFFF"/>
          </a:solidFill>
        </p:spPr>
      </p:pic>
      <p:pic>
        <p:nvPicPr>
          <p:cNvPr id="1030" name="Picture 6" descr="Trust ">
            <a:extLst>
              <a:ext uri="{FF2B5EF4-FFF2-40B4-BE49-F238E27FC236}">
                <a16:creationId xmlns:a16="http://schemas.microsoft.com/office/drawing/2014/main" id="{0D4ED2F2-C8B4-43F1-AB7E-4893512D3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4" y="7181254"/>
            <a:ext cx="327210" cy="327210"/>
          </a:xfrm>
          <a:prstGeom prst="rect">
            <a:avLst/>
          </a:prstGeom>
          <a:solidFill>
            <a:srgbClr val="D5EFFF"/>
          </a:solidFill>
        </p:spPr>
      </p:pic>
      <p:pic>
        <p:nvPicPr>
          <p:cNvPr id="1032" name="Picture 8" descr="Padlock ">
            <a:extLst>
              <a:ext uri="{FF2B5EF4-FFF2-40B4-BE49-F238E27FC236}">
                <a16:creationId xmlns:a16="http://schemas.microsoft.com/office/drawing/2014/main" id="{645F3EAB-6296-4805-8199-60373D075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" y="7906943"/>
            <a:ext cx="341811" cy="341811"/>
          </a:xfrm>
          <a:prstGeom prst="rect">
            <a:avLst/>
          </a:prstGeom>
          <a:solidFill>
            <a:srgbClr val="D5E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3CA5BD-F8B9-D078-0C9E-9E4991E2BB67}"/>
              </a:ext>
            </a:extLst>
          </p:cNvPr>
          <p:cNvSpPr txBox="1"/>
          <p:nvPr/>
        </p:nvSpPr>
        <p:spPr>
          <a:xfrm>
            <a:off x="5591600" y="1499516"/>
            <a:ext cx="1381331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b="1" i="1" dirty="0">
                <a:latin typeface="Calibri"/>
                <a:cs typeface="Calibri"/>
              </a:rPr>
              <a:t>Last Scanned: November 2023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84A150D-9A3A-44BB-BD5E-8BF437E472FF}"/>
              </a:ext>
            </a:extLst>
          </p:cNvPr>
          <p:cNvSpPr/>
          <p:nvPr/>
        </p:nvSpPr>
        <p:spPr>
          <a:xfrm flipH="1">
            <a:off x="12832" y="8463768"/>
            <a:ext cx="6858000" cy="603608"/>
          </a:xfrm>
          <a:prstGeom prst="rect">
            <a:avLst/>
          </a:prstGeom>
          <a:solidFill>
            <a:srgbClr val="D5E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Missing security headers in the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Honestycar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website increase exposure to cross-site scripting, clickjacking, and other web attacks, putting user data and session integrity at risk.</a:t>
            </a:r>
          </a:p>
        </p:txBody>
      </p:sp>
      <p:pic>
        <p:nvPicPr>
          <p:cNvPr id="49" name="Picture 8" descr="Padlock ">
            <a:extLst>
              <a:ext uri="{FF2B5EF4-FFF2-40B4-BE49-F238E27FC236}">
                <a16:creationId xmlns:a16="http://schemas.microsoft.com/office/drawing/2014/main" id="{C900DE33-48B7-4FC0-9DD0-FDB36C867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" y="8571077"/>
            <a:ext cx="341811" cy="341811"/>
          </a:xfrm>
          <a:prstGeom prst="rect">
            <a:avLst/>
          </a:prstGeom>
          <a:solidFill>
            <a:srgbClr val="D5EFFF"/>
          </a:solidFill>
        </p:spPr>
      </p:pic>
    </p:spTree>
    <p:extLst>
      <p:ext uri="{BB962C8B-B14F-4D97-AF65-F5344CB8AC3E}">
        <p14:creationId xmlns:p14="http://schemas.microsoft.com/office/powerpoint/2010/main" val="335819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E9FF226-EADE-48E3-825A-157ACC55F5C6}"/>
              </a:ext>
            </a:extLst>
          </p:cNvPr>
          <p:cNvSpPr/>
          <p:nvPr/>
        </p:nvSpPr>
        <p:spPr>
          <a:xfrm>
            <a:off x="-1" y="8502671"/>
            <a:ext cx="6858000" cy="64133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D0560B-181F-40E8-937B-5F1BA3A624F3}"/>
              </a:ext>
            </a:extLst>
          </p:cNvPr>
          <p:cNvSpPr/>
          <p:nvPr/>
        </p:nvSpPr>
        <p:spPr>
          <a:xfrm>
            <a:off x="163904" y="5525259"/>
            <a:ext cx="1909112" cy="344069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 panose="020F0502020204030204" pitchFamily="34" charset="0"/>
                <a:cs typeface="Calibri"/>
              </a:rPr>
              <a:t>What’s in it for you?</a:t>
            </a:r>
            <a:endParaRPr lang="en-IN" sz="1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/>
              <a:ea typeface="Calibri" panose="020F0502020204030204" pitchFamily="34" charset="0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8AAD22-FD61-4F8F-856E-45BEEFB3DE73}"/>
              </a:ext>
            </a:extLst>
          </p:cNvPr>
          <p:cNvSpPr/>
          <p:nvPr/>
        </p:nvSpPr>
        <p:spPr>
          <a:xfrm>
            <a:off x="163906" y="5886997"/>
            <a:ext cx="3505418" cy="15669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1450" lvl="0" indent="-1714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the most prevalent and impactful threats, techniques, and trends that we’ve observed.</a:t>
            </a:r>
          </a:p>
          <a:p>
            <a:pPr marL="171450" lvl="0" indent="-1714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ea typeface="Calibri" panose="020F0502020204030204" pitchFamily="34" charset="0"/>
                <a:cs typeface="Calibri"/>
              </a:rPr>
              <a:t>Prioritize and categorize the threats based on their severity and impact on your business and invest your valuable time and resources on stuff that needs immediate attention.</a:t>
            </a:r>
          </a:p>
          <a:p>
            <a:pPr marL="171450" lvl="0" indent="-1714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Shape and inform your readiness, detection, and response to critical threats </a:t>
            </a:r>
          </a:p>
          <a:p>
            <a:pPr marL="171450" lvl="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a custom consultation from our cybersecurity experts and secure your IT landscape.</a:t>
            </a:r>
            <a:endParaRPr lang="en-IN" sz="1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549CBE-2C94-4FFA-BA16-4F4BA6891C68}"/>
              </a:ext>
            </a:extLst>
          </p:cNvPr>
          <p:cNvSpPr/>
          <p:nvPr/>
        </p:nvSpPr>
        <p:spPr>
          <a:xfrm>
            <a:off x="3951631" y="5525259"/>
            <a:ext cx="2264338" cy="3440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YASH Recommendations</a:t>
            </a:r>
            <a:endParaRPr lang="en-IN" sz="1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CC2AC2-F12A-425E-90B6-A973F264830C}"/>
              </a:ext>
            </a:extLst>
          </p:cNvPr>
          <p:cNvSpPr/>
          <p:nvPr/>
        </p:nvSpPr>
        <p:spPr>
          <a:xfrm>
            <a:off x="3951631" y="5792803"/>
            <a:ext cx="15286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Learn More? 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6796F6-21E4-467D-85B7-1C61504846A5}"/>
              </a:ext>
            </a:extLst>
          </p:cNvPr>
          <p:cNvSpPr/>
          <p:nvPr/>
        </p:nvSpPr>
        <p:spPr>
          <a:xfrm>
            <a:off x="131523" y="8570885"/>
            <a:ext cx="3429000" cy="461665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rPr lang="en-IN" sz="800" dirty="0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Calibri"/>
              </a:rPr>
              <a:t>Disclaimer:</a:t>
            </a:r>
            <a:r>
              <a:rPr lang="en-IN" sz="8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/>
              </a:rPr>
              <a:t> All the information for the report has been obtained from publicly available sources. YASH technologies does not perform any unauthorized assessment that could impact your business</a:t>
            </a:r>
            <a:endParaRPr lang="en-IN" sz="1000" dirty="0">
              <a:solidFill>
                <a:schemeClr val="bg1"/>
              </a:solidFill>
              <a:effectLst/>
              <a:latin typeface="Calibri"/>
              <a:ea typeface="Calibri" panose="020F0502020204030204" pitchFamily="34" charset="0"/>
              <a:cs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2FB82B-E115-4C54-9F5A-1F483A87C790}"/>
              </a:ext>
            </a:extLst>
          </p:cNvPr>
          <p:cNvSpPr/>
          <p:nvPr/>
        </p:nvSpPr>
        <p:spPr>
          <a:xfrm>
            <a:off x="4606179" y="6184238"/>
            <a:ext cx="19665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Assess &amp; Manage 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performance 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C546ED-3F0A-48C0-AA5D-75F09D123FFE}"/>
              </a:ext>
            </a:extLst>
          </p:cNvPr>
          <p:cNvSpPr/>
          <p:nvPr/>
        </p:nvSpPr>
        <p:spPr>
          <a:xfrm>
            <a:off x="4017107" y="6169394"/>
            <a:ext cx="573172" cy="57317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F95A46-77EF-4D37-A20D-C0EE19AE390D}"/>
              </a:ext>
            </a:extLst>
          </p:cNvPr>
          <p:cNvSpPr/>
          <p:nvPr/>
        </p:nvSpPr>
        <p:spPr>
          <a:xfrm>
            <a:off x="4606179" y="6884839"/>
            <a:ext cx="19665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Continuously Monitor 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Critical Vendors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FE324C3-6974-486E-9771-205AA7FAF18E}"/>
              </a:ext>
            </a:extLst>
          </p:cNvPr>
          <p:cNvSpPr/>
          <p:nvPr/>
        </p:nvSpPr>
        <p:spPr>
          <a:xfrm>
            <a:off x="4017107" y="6869995"/>
            <a:ext cx="573172" cy="57317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3F3E96-78F0-41D3-A08B-3EE60D5F180E}"/>
              </a:ext>
            </a:extLst>
          </p:cNvPr>
          <p:cNvSpPr/>
          <p:nvPr/>
        </p:nvSpPr>
        <p:spPr>
          <a:xfrm>
            <a:off x="4606179" y="7583589"/>
            <a:ext cx="19665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 to Global Cyber 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Frameworks 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3E24B5-0A01-42FB-8395-642748A37EBE}"/>
              </a:ext>
            </a:extLst>
          </p:cNvPr>
          <p:cNvSpPr/>
          <p:nvPr/>
        </p:nvSpPr>
        <p:spPr>
          <a:xfrm>
            <a:off x="4017107" y="7568745"/>
            <a:ext cx="573172" cy="57317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605D60-37C6-4A38-857D-EB3D0C24DEC3}"/>
              </a:ext>
            </a:extLst>
          </p:cNvPr>
          <p:cNvSpPr/>
          <p:nvPr/>
        </p:nvSpPr>
        <p:spPr>
          <a:xfrm>
            <a:off x="4606179" y="8128944"/>
            <a:ext cx="16317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(e.g. NIST &amp; ISO/IEC 27001)</a:t>
            </a:r>
          </a:p>
        </p:txBody>
      </p:sp>
      <p:pic>
        <p:nvPicPr>
          <p:cNvPr id="1026" name="Picture 2" descr="Access control ">
            <a:extLst>
              <a:ext uri="{FF2B5EF4-FFF2-40B4-BE49-F238E27FC236}">
                <a16:creationId xmlns:a16="http://schemas.microsoft.com/office/drawing/2014/main" id="{F7FF631B-A2A3-4E93-9400-2AB9DA6D5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771" y="6387782"/>
            <a:ext cx="305844" cy="30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yware ">
            <a:extLst>
              <a:ext uri="{FF2B5EF4-FFF2-40B4-BE49-F238E27FC236}">
                <a16:creationId xmlns:a16="http://schemas.microsoft.com/office/drawing/2014/main" id="{BBB7D1A0-2853-485A-AB04-1488F010B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406" y="7121055"/>
            <a:ext cx="250574" cy="25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yber security ">
            <a:extLst>
              <a:ext uri="{FF2B5EF4-FFF2-40B4-BE49-F238E27FC236}">
                <a16:creationId xmlns:a16="http://schemas.microsoft.com/office/drawing/2014/main" id="{E771160E-BB56-44A8-841D-038DB134E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444" y="7816208"/>
            <a:ext cx="248499" cy="24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AAD3E1C-1543-4F00-84C4-87C6234D9D2C}"/>
              </a:ext>
            </a:extLst>
          </p:cNvPr>
          <p:cNvSpPr/>
          <p:nvPr/>
        </p:nvSpPr>
        <p:spPr>
          <a:xfrm>
            <a:off x="4179208" y="8570885"/>
            <a:ext cx="2678791" cy="478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Maximise security posture with SOC/MDR/VMS/TRPM</a:t>
            </a:r>
            <a:endParaRPr lang="en-IN" sz="11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F770B4-E7C1-4D00-8EAF-E4ACD0768EA7}"/>
              </a:ext>
            </a:extLst>
          </p:cNvPr>
          <p:cNvSpPr/>
          <p:nvPr/>
        </p:nvSpPr>
        <p:spPr>
          <a:xfrm>
            <a:off x="268529" y="7738923"/>
            <a:ext cx="3429000" cy="4693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more information write to us at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cybersecurity@yash.com</a:t>
            </a:r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0D42D4-A67C-42A0-B8B6-0AF12D0FDCC5}"/>
              </a:ext>
            </a:extLst>
          </p:cNvPr>
          <p:cNvCxnSpPr>
            <a:cxnSpLocks/>
          </p:cNvCxnSpPr>
          <p:nvPr/>
        </p:nvCxnSpPr>
        <p:spPr>
          <a:xfrm>
            <a:off x="2070459" y="820618"/>
            <a:ext cx="0" cy="21667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1AF82FC-7479-4652-9E90-FD9FE2CC6E00}"/>
              </a:ext>
            </a:extLst>
          </p:cNvPr>
          <p:cNvCxnSpPr>
            <a:cxnSpLocks/>
          </p:cNvCxnSpPr>
          <p:nvPr/>
        </p:nvCxnSpPr>
        <p:spPr>
          <a:xfrm>
            <a:off x="3679737" y="820618"/>
            <a:ext cx="0" cy="21667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DE79D6A-D4C5-474E-9A39-6EB488DBBD5E}"/>
              </a:ext>
            </a:extLst>
          </p:cNvPr>
          <p:cNvSpPr/>
          <p:nvPr/>
        </p:nvSpPr>
        <p:spPr>
          <a:xfrm>
            <a:off x="745360" y="3467335"/>
            <a:ext cx="4956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60+</a:t>
            </a: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DF5B9709-937F-4712-8E1A-E6BD0C129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152599"/>
              </p:ext>
            </p:extLst>
          </p:nvPr>
        </p:nvGraphicFramePr>
        <p:xfrm>
          <a:off x="248856" y="2985566"/>
          <a:ext cx="6353078" cy="17920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8297">
                  <a:extLst>
                    <a:ext uri="{9D8B030D-6E8A-4147-A177-3AD203B41FA5}">
                      <a16:colId xmlns:a16="http://schemas.microsoft.com/office/drawing/2014/main" val="1653682977"/>
                    </a:ext>
                  </a:extLst>
                </a:gridCol>
                <a:gridCol w="4744781">
                  <a:extLst>
                    <a:ext uri="{9D8B030D-6E8A-4147-A177-3AD203B41FA5}">
                      <a16:colId xmlns:a16="http://schemas.microsoft.com/office/drawing/2014/main" val="1850878873"/>
                    </a:ext>
                  </a:extLst>
                </a:gridCol>
              </a:tblGrid>
              <a:tr h="43183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Threat Type</a:t>
                      </a:r>
                      <a:endParaRPr lang="en-IN" sz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80B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Risks</a:t>
                      </a:r>
                      <a:endParaRPr lang="en-IN" sz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80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714837"/>
                  </a:ext>
                </a:extLst>
              </a:tr>
              <a:tr h="453421">
                <a:tc>
                  <a:txBody>
                    <a:bodyPr/>
                    <a:lstStyle/>
                    <a:p>
                      <a:pPr lvl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+mn-ea"/>
                          <a:cs typeface="+mn-cs"/>
                        </a:rPr>
                        <a:t>Data exposure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Usernames are exposed, enabling password attacks that risk unauthorized access, data breaches, and compliance violations.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43082"/>
                  </a:ext>
                </a:extLst>
              </a:tr>
              <a:tr h="453421">
                <a:tc>
                  <a:txBody>
                    <a:bodyPr/>
                    <a:lstStyle/>
                    <a:p>
                      <a:pPr lvl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+mn-ea"/>
                          <a:cs typeface="+mn-cs"/>
                        </a:rPr>
                        <a:t>Subdomain Takeover</a:t>
                      </a:r>
                      <a:endParaRPr lang="en-US" sz="1100" b="1" i="0" u="none" strike="noStrike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262626"/>
                          </a:solidFill>
                          <a:latin typeface="Calibri"/>
                          <a:ea typeface="+mn-ea"/>
                          <a:cs typeface="+mn-cs"/>
                        </a:rPr>
                        <a:t>Subdomains are misconfigured and vulnerable to takeover, allowing attackers to hijack them for phishing or malware, risking brand abuse and user compromise.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448711"/>
                  </a:ext>
                </a:extLst>
              </a:tr>
              <a:tr h="453421">
                <a:tc>
                  <a:txBody>
                    <a:bodyPr/>
                    <a:lstStyle/>
                    <a:p>
                      <a:pPr lvl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+mn-ea"/>
                          <a:cs typeface="+mn-cs"/>
                        </a:rPr>
                        <a:t>Open Port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262626"/>
                          </a:solidFill>
                          <a:latin typeface="Calibri"/>
                          <a:ea typeface="+mn-ea"/>
                          <a:cs typeface="+mn-cs"/>
                        </a:rPr>
                        <a:t>Port 22 is exposed, making the server a target for SSH brute-force attacks, increasing the risk of unauthorized access and server compromise.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59758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DED0D91-B7B1-4F22-BFF7-4B3D9362A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22545"/>
              </p:ext>
            </p:extLst>
          </p:nvPr>
        </p:nvGraphicFramePr>
        <p:xfrm>
          <a:off x="2914886" y="448780"/>
          <a:ext cx="3745312" cy="23265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1654">
                  <a:extLst>
                    <a:ext uri="{9D8B030D-6E8A-4147-A177-3AD203B41FA5}">
                      <a16:colId xmlns:a16="http://schemas.microsoft.com/office/drawing/2014/main" val="525190679"/>
                    </a:ext>
                  </a:extLst>
                </a:gridCol>
                <a:gridCol w="1563658">
                  <a:extLst>
                    <a:ext uri="{9D8B030D-6E8A-4147-A177-3AD203B41FA5}">
                      <a16:colId xmlns:a16="http://schemas.microsoft.com/office/drawing/2014/main" val="3618154613"/>
                    </a:ext>
                  </a:extLst>
                </a:gridCol>
              </a:tblGrid>
              <a:tr h="37812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Vulnerability</a:t>
                      </a:r>
                      <a:endParaRPr lang="en-IN" sz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80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Severity</a:t>
                      </a:r>
                      <a:endParaRPr lang="en-IN" sz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80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87400"/>
                  </a:ext>
                </a:extLst>
              </a:tr>
              <a:tr h="268813">
                <a:tc>
                  <a:txBody>
                    <a:bodyPr/>
                    <a:lstStyle/>
                    <a:p>
                      <a:r>
                        <a:rPr lang="en-GB" sz="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Weak ciphers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135280"/>
                  </a:ext>
                </a:extLst>
              </a:tr>
              <a:tr h="206988">
                <a:tc>
                  <a:txBody>
                    <a:bodyPr/>
                    <a:lstStyle/>
                    <a:p>
                      <a:r>
                        <a:rPr lang="en-GB" sz="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Improper input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49315"/>
                  </a:ext>
                </a:extLst>
              </a:tr>
              <a:tr h="20698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Missing file upload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853226"/>
                  </a:ext>
                </a:extLst>
              </a:tr>
              <a:tr h="222107"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Missing security Headers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732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Missing Cookie attributes-Http only, secure 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834458"/>
                  </a:ext>
                </a:extLst>
              </a:tr>
              <a:tr h="206988"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exposure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27233"/>
                  </a:ext>
                </a:extLst>
              </a:tr>
              <a:tr h="268813"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Weak Hashing 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59863"/>
                  </a:ext>
                </a:extLst>
              </a:tr>
              <a:tr h="270424">
                <a:tc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Vulnerable Bootstrap and jQuery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  <a:p>
                      <a:endParaRPr lang="en-GB" sz="8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05533"/>
                  </a:ext>
                </a:extLst>
              </a:tr>
            </a:tbl>
          </a:graphicData>
        </a:graphic>
      </p:graphicFrame>
      <p:sp>
        <p:nvSpPr>
          <p:cNvPr id="2" name="TextBox 3">
            <a:extLst>
              <a:ext uri="{FF2B5EF4-FFF2-40B4-BE49-F238E27FC236}">
                <a16:creationId xmlns:a16="http://schemas.microsoft.com/office/drawing/2014/main" id="{04B89E91-530A-A458-5A00-31D2FCC7A154}"/>
              </a:ext>
            </a:extLst>
          </p:cNvPr>
          <p:cNvSpPr txBox="1"/>
          <p:nvPr/>
        </p:nvSpPr>
        <p:spPr>
          <a:xfrm>
            <a:off x="99751" y="102967"/>
            <a:ext cx="2280193" cy="276999"/>
          </a:xfrm>
          <a:prstGeom prst="rect">
            <a:avLst/>
          </a:prstGeom>
          <a:solidFill>
            <a:srgbClr val="0780B5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solidFill>
                  <a:schemeClr val="bg1"/>
                </a:solidFill>
                <a:latin typeface="Calibri"/>
                <a:cs typeface="Calibri"/>
              </a:rPr>
              <a:t>Vulnerability Summary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4B89E91-530A-A458-5A00-31D2FCC7A154}"/>
              </a:ext>
            </a:extLst>
          </p:cNvPr>
          <p:cNvSpPr txBox="1"/>
          <p:nvPr/>
        </p:nvSpPr>
        <p:spPr>
          <a:xfrm>
            <a:off x="99751" y="102967"/>
            <a:ext cx="2280193" cy="276999"/>
          </a:xfrm>
          <a:prstGeom prst="rect">
            <a:avLst/>
          </a:prstGeom>
          <a:solidFill>
            <a:srgbClr val="0780B5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solidFill>
                  <a:schemeClr val="bg1"/>
                </a:solidFill>
                <a:latin typeface="Calibri"/>
                <a:cs typeface="Calibri"/>
              </a:rPr>
              <a:t>Vulnerability Summary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4B89E91-530A-A458-5A00-31D2FCC7A154}"/>
              </a:ext>
            </a:extLst>
          </p:cNvPr>
          <p:cNvSpPr txBox="1"/>
          <p:nvPr/>
        </p:nvSpPr>
        <p:spPr>
          <a:xfrm>
            <a:off x="99751" y="102967"/>
            <a:ext cx="2280193" cy="276999"/>
          </a:xfrm>
          <a:prstGeom prst="rect">
            <a:avLst/>
          </a:prstGeom>
          <a:solidFill>
            <a:srgbClr val="0780B5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solidFill>
                  <a:schemeClr val="bg1"/>
                </a:solidFill>
                <a:latin typeface="Calibri"/>
                <a:cs typeface="Calibri"/>
              </a:rPr>
              <a:t>Vulnerability Summary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4B89E91-530A-A458-5A00-31D2FCC7A154}"/>
              </a:ext>
            </a:extLst>
          </p:cNvPr>
          <p:cNvSpPr txBox="1"/>
          <p:nvPr/>
        </p:nvSpPr>
        <p:spPr>
          <a:xfrm>
            <a:off x="99751" y="102967"/>
            <a:ext cx="2280193" cy="276999"/>
          </a:xfrm>
          <a:prstGeom prst="rect">
            <a:avLst/>
          </a:prstGeom>
          <a:solidFill>
            <a:srgbClr val="0780B5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solidFill>
                  <a:schemeClr val="bg1"/>
                </a:solidFill>
                <a:latin typeface="Calibri"/>
                <a:cs typeface="Calibri"/>
              </a:rPr>
              <a:t>Vulnerability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0E8E5-8E36-4BC3-B96D-F1F791400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51" y="483481"/>
            <a:ext cx="2622184" cy="229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1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4">
      <a:dk1>
        <a:sysClr val="windowText" lastClr="000000"/>
      </a:dk1>
      <a:lt1>
        <a:sysClr val="window" lastClr="FFFFFF"/>
      </a:lt1>
      <a:dk2>
        <a:srgbClr val="1F153C"/>
      </a:dk2>
      <a:lt2>
        <a:srgbClr val="8078B7"/>
      </a:lt2>
      <a:accent1>
        <a:srgbClr val="CE862F"/>
      </a:accent1>
      <a:accent2>
        <a:srgbClr val="D57C6E"/>
      </a:accent2>
      <a:accent3>
        <a:srgbClr val="436D8D"/>
      </a:accent3>
      <a:accent4>
        <a:srgbClr val="BEDA84"/>
      </a:accent4>
      <a:accent5>
        <a:srgbClr val="E2D53F"/>
      </a:accent5>
      <a:accent6>
        <a:srgbClr val="AFC2C1"/>
      </a:accent6>
      <a:hlink>
        <a:srgbClr val="282E76"/>
      </a:hlink>
      <a:folHlink>
        <a:srgbClr val="282E76"/>
      </a:folHlink>
    </a:clrScheme>
    <a:fontScheme name="Custom 51">
      <a:majorFont>
        <a:latin typeface="Adobe Garamond Pro Bold"/>
        <a:ea typeface=""/>
        <a:cs typeface=""/>
      </a:majorFont>
      <a:minorFont>
        <a:latin typeface="Adobe Garamon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867640_Pride rainbow flyer_CLR_v2" id="{4A09D9EA-3C88-4253-A30D-D2DFAAE8B942}" vid="{82705F24-BFDD-4DEE-916E-5C4DD884A3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63B505EFEEBF4C9D7CAFC267722826" ma:contentTypeVersion="6" ma:contentTypeDescription="Create a new document." ma:contentTypeScope="" ma:versionID="d26a6234b3834d54c50b262fb05b43b5">
  <xsd:schema xmlns:xsd="http://www.w3.org/2001/XMLSchema" xmlns:xs="http://www.w3.org/2001/XMLSchema" xmlns:p="http://schemas.microsoft.com/office/2006/metadata/properties" xmlns:ns2="1696cbd8-4359-4f88-a667-bb160f63cd6a" xmlns:ns3="a0885eaf-fc25-4d9d-955f-e28350cc89c1" targetNamespace="http://schemas.microsoft.com/office/2006/metadata/properties" ma:root="true" ma:fieldsID="5274382a51b973dca479024741974822" ns2:_="" ns3:_="">
    <xsd:import namespace="1696cbd8-4359-4f88-a667-bb160f63cd6a"/>
    <xsd:import namespace="a0885eaf-fc25-4d9d-955f-e28350cc89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6cbd8-4359-4f88-a667-bb160f63cd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885eaf-fc25-4d9d-955f-e28350cc89c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41AEFA-8A23-486A-B9E5-7CADB5303FB2}">
  <ds:schemaRefs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1696cbd8-4359-4f88-a667-bb160f63cd6a"/>
    <ds:schemaRef ds:uri="http://schemas.microsoft.com/office/infopath/2007/PartnerControls"/>
    <ds:schemaRef ds:uri="a0885eaf-fc25-4d9d-955f-e28350cc89c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59DC18E-D7F1-4589-8440-0D389D5BA5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96cbd8-4359-4f88-a667-bb160f63cd6a"/>
    <ds:schemaRef ds:uri="a0885eaf-fc25-4d9d-955f-e28350cc89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1BE808-1BA1-4E27-94E8-44A391A438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Pride rainbow flyer</Template>
  <TotalTime>0</TotalTime>
  <Words>502</Words>
  <Application>Microsoft Office PowerPoint</Application>
  <PresentationFormat>Letter Paper (8.5x11 in)</PresentationFormat>
  <Paragraphs>71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Adobe Garamond Pro</vt:lpstr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187</cp:revision>
  <dcterms:created xsi:type="dcterms:W3CDTF">2024-05-30T08:53:14Z</dcterms:created>
  <dcterms:modified xsi:type="dcterms:W3CDTF">2025-06-25T06:01:37Z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0x010100BA63B505EFEEBF4C9D7CAFC267722826</vt:lpwstr>
  </property>
</Properties>
</file>